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7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6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68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1728" y="2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Müşteri Sayısı</c:v>
                </c:pt>
              </c:strCache>
            </c:strRef>
          </c:tx>
          <c:spPr>
            <a:solidFill>
              <a:srgbClr val="4B14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VIP</c:v>
                </c:pt>
                <c:pt idx="1">
                  <c:v>Potansiyel VIP</c:v>
                </c:pt>
                <c:pt idx="2">
                  <c:v>Düzenli</c:v>
                </c:pt>
                <c:pt idx="3">
                  <c:v>Risk Altında</c:v>
                </c:pt>
                <c:pt idx="4">
                  <c:v>Pasif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1695</c:v>
                </c:pt>
                <c:pt idx="1">
                  <c:v>1366</c:v>
                </c:pt>
                <c:pt idx="2">
                  <c:v>1354</c:v>
                </c:pt>
                <c:pt idx="3">
                  <c:v>3700</c:v>
                </c:pt>
                <c:pt idx="4">
                  <c:v>2012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09F-4CE5-B24E-35D94CA51A4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b"/>
        <c:majorGridlines>
          <c:spPr>
            <a:ln w="12700" cap="flat">
              <a:solidFill>
                <a:srgbClr val="E5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Müşteri Sayısı</c:v>
                </c:pt>
              </c:strCache>
            </c:strRef>
          </c:tx>
          <c:spPr>
            <a:solidFill>
              <a:srgbClr val="E8C9E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399</c:v>
                </c:pt>
                <c:pt idx="1">
                  <c:v>1499</c:v>
                </c:pt>
                <c:pt idx="2">
                  <c:v>3227</c:v>
                </c:pt>
                <c:pt idx="3">
                  <c:v>3380</c:v>
                </c:pt>
                <c:pt idx="4">
                  <c:v>1392</c:v>
                </c:pt>
                <c:pt idx="5">
                  <c:v>176</c:v>
                </c:pt>
                <c:pt idx="6">
                  <c:v>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B4-45FF-BECA-1553A08151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0"/>
          <c:min val="0"/>
        </c:scaling>
        <c:delete val="0"/>
        <c:axPos val="l"/>
        <c:majorGridlines>
          <c:spPr>
            <a:ln w="12700" cap="flat">
              <a:solidFill>
                <a:srgbClr val="E5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Churn</c:v>
                </c:pt>
              </c:strCache>
            </c:strRef>
          </c:tx>
          <c:spPr>
            <a:ln w="25400" cap="flat">
              <a:solidFill>
                <a:srgbClr val="4B145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B145B"/>
              </a:solidFill>
              <a:ln w="9525" cap="flat">
                <a:solidFill>
                  <a:srgbClr val="4B145B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1.75</c:v>
                </c:pt>
                <c:pt idx="1">
                  <c:v>7.2</c:v>
                </c:pt>
                <c:pt idx="2">
                  <c:v>12.49</c:v>
                </c:pt>
                <c:pt idx="3">
                  <c:v>20.149999999999999</c:v>
                </c:pt>
                <c:pt idx="4">
                  <c:v>22.63</c:v>
                </c:pt>
                <c:pt idx="5">
                  <c:v>33.520000000000003</c:v>
                </c:pt>
                <c:pt idx="6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E17-4B16-AF34-82B73150139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>
              <a:solidFill>
                <a:srgbClr val="E5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Müşteri</c:v>
                </c:pt>
              </c:strCache>
            </c:strRef>
          </c:tx>
          <c:spPr>
            <a:solidFill>
              <a:srgbClr val="4B145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VIP</c:v>
                </c:pt>
                <c:pt idx="1">
                  <c:v>Potansiyel VIP</c:v>
                </c:pt>
                <c:pt idx="2">
                  <c:v>Düzenli</c:v>
                </c:pt>
                <c:pt idx="3">
                  <c:v>Risk Altında</c:v>
                </c:pt>
                <c:pt idx="4">
                  <c:v>Pasif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1695</c:v>
                </c:pt>
                <c:pt idx="1">
                  <c:v>1366</c:v>
                </c:pt>
                <c:pt idx="2">
                  <c:v>1354</c:v>
                </c:pt>
                <c:pt idx="3">
                  <c:v>3700</c:v>
                </c:pt>
                <c:pt idx="4">
                  <c:v>2012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A5-465C-8FC8-0F67350974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0"/>
        </c:scaling>
        <c:delete val="0"/>
        <c:axPos val="b"/>
        <c:majorGridlines>
          <c:spPr>
            <a:ln w="12700" cap="flat">
              <a:solidFill>
                <a:srgbClr val="E5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Yaş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AB6E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0F3-4037-9A3E-A22715849CD2}"/>
              </c:ext>
            </c:extLst>
          </c:dPt>
          <c:dPt>
            <c:idx val="1"/>
            <c:bubble3D val="0"/>
            <c:spPr>
              <a:solidFill>
                <a:srgbClr val="9B4CA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0F3-4037-9A3E-A22715849CD2}"/>
              </c:ext>
            </c:extLst>
          </c:dPt>
          <c:dPt>
            <c:idx val="2"/>
            <c:bubble3D val="0"/>
            <c:spPr>
              <a:solidFill>
                <a:srgbClr val="4B145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0F3-4037-9A3E-A22715849CD2}"/>
              </c:ext>
            </c:extLst>
          </c:dPt>
          <c:dPt>
            <c:idx val="3"/>
            <c:bubble3D val="0"/>
            <c:spPr>
              <a:solidFill>
                <a:srgbClr val="C15C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0F3-4037-9A3E-A22715849CD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0F3-4037-9A3E-A22715849CD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0F3-4037-9A3E-A22715849CD2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0F3-4037-9A3E-A22715849CD2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tr-T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A0F3-4037-9A3E-A22715849CD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tr-T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25-35</c:v>
                </c:pt>
                <c:pt idx="1">
                  <c:v>36-45</c:v>
                </c:pt>
                <c:pt idx="2">
                  <c:v>46-55</c:v>
                </c:pt>
                <c:pt idx="3">
                  <c:v>56+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902</c:v>
                </c:pt>
                <c:pt idx="1">
                  <c:v>3742</c:v>
                </c:pt>
                <c:pt idx="2">
                  <c:v>4160</c:v>
                </c:pt>
                <c:pt idx="3">
                  <c:v>1323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0F3-4037-9A3E-A22715849C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tr-T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İşlem Hacmi (M TL)</c:v>
                </c:pt>
              </c:strCache>
            </c:strRef>
          </c:tx>
          <c:spPr>
            <a:solidFill>
              <a:srgbClr val="4B145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Kötümser</c:v>
                </c:pt>
                <c:pt idx="1">
                  <c:v>Temel</c:v>
                </c:pt>
                <c:pt idx="2">
                  <c:v>İyimser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46.83</c:v>
                </c:pt>
                <c:pt idx="1">
                  <c:v>51.29</c:v>
                </c:pt>
                <c:pt idx="2">
                  <c:v>57.98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1B-4730-A501-17AC7213B5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Tahmini Gelir (M TL)</c:v>
                </c:pt>
              </c:strCache>
            </c:strRef>
          </c:tx>
          <c:spPr>
            <a:solidFill>
              <a:srgbClr val="E8C9E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Kötümser</c:v>
                </c:pt>
                <c:pt idx="1">
                  <c:v>Temel</c:v>
                </c:pt>
                <c:pt idx="2">
                  <c:v>İyimser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0.66900000000000004</c:v>
                </c:pt>
                <c:pt idx="1">
                  <c:v>0.93700000000000006</c:v>
                </c:pt>
                <c:pt idx="2">
                  <c:v>1.2270000000000001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1B-4730-A501-17AC7213B5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tr-T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DEE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tr-T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52073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64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020" y="-25146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685800"/>
            <a:ext cx="10789920" cy="521208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25400" dist="50800" dir="27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1234440"/>
            <a:ext cx="10149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AKTİFBANK CASE STUDY 1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1560" y="187452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KREDI KARTI MÜŞTERI ANALIZI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-3528213" y="641223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tr-TR" sz="15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Hatice Gül UZUN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1463040" y="37947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463040" y="3794760"/>
            <a:ext cx="73152" cy="96012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27632" y="395935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TOPLAM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627632" y="423367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10.127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749040" y="37947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0" y="3794760"/>
            <a:ext cx="73152" cy="96012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13632" y="395935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913632" y="423367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51E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%16,07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35040" y="37947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3794760"/>
            <a:ext cx="73152" cy="96012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9632" y="395935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ORT. LİMİT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199632" y="423367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₺8.632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321040" y="3794760"/>
            <a:ext cx="19202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321040" y="3794760"/>
            <a:ext cx="73152" cy="96012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85632" y="3959352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ORT. HARCAMA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85632" y="4233672"/>
            <a:ext cx="1591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₺4.404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Aktifbank Case Study 1 · 1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5">
            <a:extLst>
              <a:ext uri="{FF2B5EF4-FFF2-40B4-BE49-F238E27FC236}">
                <a16:creationId xmlns:a16="http://schemas.microsoft.com/office/drawing/2014/main" id="{E79A9E83-8117-3523-B598-4BEF04B7A0B8}"/>
              </a:ext>
            </a:extLst>
          </p:cNvPr>
          <p:cNvSpPr/>
          <p:nvPr/>
        </p:nvSpPr>
        <p:spPr>
          <a:xfrm>
            <a:off x="1234440" y="281178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Dashboard · Churn Analizi · What-if Modelleme · Solver Optimizasyonu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PROBLEM VE ANALITIK YAKLAŞIM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6656" y="804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Dashboard, yalnızca grafik değil; müşteri kaybı ve müşteri değerini birlikte anlatan karar destek akışıdır.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3840480" cy="4434840"/>
          </a:xfrm>
          <a:prstGeom prst="roundRect">
            <a:avLst>
              <a:gd name="adj" fmla="val 190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 İş Soruları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60120" y="2148840"/>
            <a:ext cx="3246120" cy="2286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Kimler </a:t>
            </a:r>
            <a:r>
              <a:rPr lang="en-US" sz="1600" dirty="0" err="1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ayrılıyor</a:t>
            </a:r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tr-TR" sz="1600" dirty="0">
              <a:solidFill>
                <a:srgbClr val="2D283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Ayrılma riski hangi davranışlarda </a:t>
            </a:r>
            <a:r>
              <a:rPr lang="en-US" sz="1600" dirty="0" err="1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artıyor</a:t>
            </a:r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tr-TR" sz="1600" dirty="0">
              <a:solidFill>
                <a:srgbClr val="2D283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Hangi gruplar daha </a:t>
            </a:r>
            <a:r>
              <a:rPr lang="en-US" sz="1600" dirty="0" err="1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değerli</a:t>
            </a:r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  <a:endParaRPr lang="tr-TR" sz="1600" dirty="0">
              <a:solidFill>
                <a:srgbClr val="2D283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Kampanya bütçesi nereye yönlendirilmeli?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892040" y="1371600"/>
            <a:ext cx="658368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166360" y="1645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Çözüm Mimarisi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212080" y="2331720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12080" y="23865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01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956048" y="2788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Temizleme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355080" y="2331720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3865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02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099048" y="2788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498080" y="2331720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0" y="23865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03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242048" y="2788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Pivot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641080" y="2331720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23865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04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385048" y="2788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784080" y="2331720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784080" y="2386584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05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528048" y="2788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What-if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893308" y="2148840"/>
            <a:ext cx="3840480" cy="73152"/>
          </a:xfrm>
          <a:prstGeom prst="rightArrow">
            <a:avLst/>
          </a:prstGeom>
          <a:noFill/>
          <a:ln w="25400">
            <a:solidFill>
              <a:srgbClr val="E8C9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49240" y="3794760"/>
            <a:ext cx="5440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Çıktı: slicer ile dinamik çalışan KPI kartları, churn ana grafiği, segment/yaş/kart dağılımları ve kampanya optimizasyonu.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Aktifbank Case Study 1 · 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 HAZIRLIĞI: GÜVENILIR ANALIZ TABANI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76656" y="804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</a:rPr>
              <a:t>Ham veri korunarak temiz sütunlar ve dinamik eşiklerle modelleme yapıldı.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71202" y="1170433"/>
            <a:ext cx="4754880" cy="749807"/>
          </a:xfrm>
          <a:prstGeom prst="roundRect">
            <a:avLst>
              <a:gd name="adj" fmla="val 14545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005840" y="14447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4B145B"/>
                </a:solidFill>
              </a:rPr>
              <a:t>Gelir</a:t>
            </a:r>
            <a:r>
              <a:rPr lang="en-US" sz="1400" b="1" dirty="0">
                <a:solidFill>
                  <a:srgbClr val="4B145B"/>
                </a:solidFill>
              </a:rPr>
              <a:t> </a:t>
            </a:r>
            <a:r>
              <a:rPr lang="en-US" sz="1400" b="1" dirty="0" err="1">
                <a:solidFill>
                  <a:srgbClr val="4B145B"/>
                </a:solidFill>
              </a:rPr>
              <a:t>Boşlukları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834640" y="144475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830"/>
                </a:solidFill>
              </a:rPr>
              <a:t>Income_Category_Clean = Unknown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217314"/>
            <a:ext cx="4754880" cy="707387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013604" y="2443771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4B145B"/>
                </a:solidFill>
              </a:rPr>
              <a:t>Kredi</a:t>
            </a:r>
            <a:r>
              <a:rPr lang="en-US" sz="1400" b="1" dirty="0">
                <a:solidFill>
                  <a:srgbClr val="4B145B"/>
                </a:solidFill>
              </a:rPr>
              <a:t> </a:t>
            </a:r>
            <a:r>
              <a:rPr lang="en-US" sz="1400" b="1" dirty="0" err="1">
                <a:solidFill>
                  <a:srgbClr val="4B145B"/>
                </a:solidFill>
              </a:rPr>
              <a:t>Limiti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834640" y="2443027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830"/>
                </a:solidFill>
              </a:rPr>
              <a:t>Avg_Open_To_Buy + Total_Revolving_Bal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201994"/>
            <a:ext cx="4754880" cy="724747"/>
          </a:xfrm>
          <a:prstGeom prst="roundRect">
            <a:avLst>
              <a:gd name="adj" fmla="val 14545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05840" y="347292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4B145B"/>
                </a:solidFill>
              </a:rPr>
              <a:t>Yaş</a:t>
            </a:r>
            <a:r>
              <a:rPr lang="en-US" sz="1400" b="1" dirty="0">
                <a:solidFill>
                  <a:srgbClr val="4B145B"/>
                </a:solidFill>
              </a:rPr>
              <a:t> </a:t>
            </a:r>
            <a:r>
              <a:rPr lang="en-US" sz="1400" b="1" dirty="0" err="1">
                <a:solidFill>
                  <a:srgbClr val="4B145B"/>
                </a:solidFill>
              </a:rPr>
              <a:t>Aykırıları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3472927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830"/>
                </a:solidFill>
              </a:rPr>
              <a:t>Medyan yaş ile düzeltme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80259" y="4204034"/>
            <a:ext cx="4754880" cy="764473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13604" y="449483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4B145B"/>
                </a:solidFill>
              </a:rPr>
              <a:t>Eğitim</a:t>
            </a:r>
            <a:r>
              <a:rPr lang="en-US" sz="1400" b="1" dirty="0">
                <a:solidFill>
                  <a:srgbClr val="4B145B"/>
                </a:solidFill>
              </a:rPr>
              <a:t> </a:t>
            </a:r>
            <a:r>
              <a:rPr lang="en-US" sz="1400" b="1" dirty="0" err="1">
                <a:solidFill>
                  <a:srgbClr val="4B145B"/>
                </a:solidFill>
              </a:rPr>
              <a:t>Yazımları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834640" y="449483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830"/>
                </a:solidFill>
              </a:rPr>
              <a:t>Standartlaştırılmış kategori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1202" y="5245800"/>
            <a:ext cx="4754880" cy="764473"/>
          </a:xfrm>
          <a:prstGeom prst="roundRect">
            <a:avLst>
              <a:gd name="adj" fmla="val 14545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 dirty="0"/>
          </a:p>
        </p:txBody>
      </p:sp>
      <p:sp>
        <p:nvSpPr>
          <p:cNvPr id="19" name="Text 17"/>
          <p:cNvSpPr/>
          <p:nvPr/>
        </p:nvSpPr>
        <p:spPr>
          <a:xfrm>
            <a:off x="1005840" y="5537959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145B"/>
                </a:solidFill>
              </a:rPr>
              <a:t>Segment </a:t>
            </a:r>
            <a:r>
              <a:rPr lang="en-US" sz="1400" b="1" dirty="0" err="1">
                <a:solidFill>
                  <a:srgbClr val="4B145B"/>
                </a:solidFill>
              </a:rPr>
              <a:t>Eşiği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834640" y="5537959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D2830"/>
                </a:solidFill>
              </a:rPr>
              <a:t>Q1 · Medyan · Q3 dinamik formül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080760" y="1325880"/>
            <a:ext cx="5257800" cy="4206240"/>
          </a:xfrm>
          <a:prstGeom prst="roundRect">
            <a:avLst>
              <a:gd name="adj" fmla="val 173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55080" y="1600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B145B"/>
                </a:solidFill>
              </a:rPr>
              <a:t>Segmentasyon Sonucu</a:t>
            </a:r>
            <a:endParaRPr lang="en-US" sz="1400" dirty="0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3902050874"/>
              </p:ext>
            </p:extLst>
          </p:nvPr>
        </p:nvGraphicFramePr>
        <p:xfrm>
          <a:off x="6446520" y="2057400"/>
          <a:ext cx="4617720" cy="2880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Text 21"/>
          <p:cNvSpPr/>
          <p:nvPr/>
        </p:nvSpPr>
        <p:spPr>
          <a:xfrm>
            <a:off x="6446520" y="5166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470"/>
                </a:solidFill>
              </a:rPr>
              <a:t>En geniş segment Risk Altında; en değerli segment VIP.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</a:rPr>
              <a:t>Aktifbank Case Study 1 · 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DASHBOARD TASARIMI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6656" y="804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5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r>
              <a:rPr lang="en-US" sz="1250" dirty="0" err="1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iltre</a:t>
            </a:r>
            <a:r>
              <a:rPr lang="en-US" sz="125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paneli</a:t>
            </a:r>
            <a:r>
              <a:rPr lang="en-US" sz="125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üst KPI kartları ve yönetici odaklı analiz alanı.</a:t>
            </a:r>
            <a:endParaRPr lang="en-US" sz="12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1101852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Aktifbank Case Study 1 · 4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8731445-5A31-A936-B4BE-3698265CB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" y="1257863"/>
            <a:ext cx="11018520" cy="51652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KPI YÖNETIM ÖZETI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6656" y="804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Portföy büyüklüğü, müşteri kaybı ve finansal değer aynı ekranda takip edildi.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77240" y="1417320"/>
            <a:ext cx="73152" cy="96012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41832" y="1581912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TOPLAM MÜŞTERİ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941832" y="185623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10.127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063240" y="14173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063240" y="1417320"/>
            <a:ext cx="73152" cy="96012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581912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AYRILAN MÜŞTERİ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27832" y="185623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1.627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349240" y="14173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49240" y="1417320"/>
            <a:ext cx="73152" cy="96012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13832" y="1581912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CHURN ORANI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5513832" y="185623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51E4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%16,07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635240" y="14173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635240" y="1417320"/>
            <a:ext cx="73152" cy="96012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99832" y="1581912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ORT. LİMİT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799832" y="185623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₺8.632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9921240" y="1417320"/>
            <a:ext cx="20574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21240" y="1417320"/>
            <a:ext cx="73152" cy="96012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85832" y="1581912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ORT. HARCAMA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0085832" y="185623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₺4.404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14400" y="3017520"/>
            <a:ext cx="4937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188720" y="33375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Yorum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188720" y="3749040"/>
            <a:ext cx="434340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Autofit/>
          </a:bodyPr>
          <a:lstStyle/>
          <a:p>
            <a:pPr algn="just"/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Ayrılan müşteri oranı %16,07 seviyesinde.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KPI kartları pivotlardan çekildiği için slicer filtreleriyle dinamik güncellenir.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 ve harcama KPI’ları segment yorumlarına bağlanır.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217920" y="3017520"/>
            <a:ext cx="5074920" cy="2286000"/>
          </a:xfrm>
          <a:prstGeom prst="roundRect">
            <a:avLst>
              <a:gd name="adj" fmla="val 3200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92240" y="3337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Dashboard </a:t>
            </a:r>
            <a:r>
              <a:rPr lang="en-US" sz="1600" b="1" dirty="0" err="1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Hik</a:t>
            </a:r>
            <a:r>
              <a:rPr lang="tr-TR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lang="en-US" sz="1600" b="1" dirty="0" err="1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492239" y="3840480"/>
            <a:ext cx="4575451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just">
              <a:buNone/>
            </a:pPr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Kim ayrılıyor? Hangi davranış churn sinyali veriyor? Hangi segmentlere öncelik verilmeli? Dashboard bu üç soruya aynı anda cevap verecek şekilde tasarlandı.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Aktifbank Case Study 1 · 5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CHURN ANALIZI: TEMAS SAYISI KRITIK SINYAL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6656" y="804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Oran tek başına değil; müşteri sayısı ile birlikte okunmalıdır.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640080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448813108"/>
              </p:ext>
            </p:extLst>
          </p:nvPr>
        </p:nvGraphicFramePr>
        <p:xfrm>
          <a:off x="914400" y="1645920"/>
          <a:ext cx="580644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7360920" y="1325880"/>
            <a:ext cx="4206240" cy="4343400"/>
          </a:xfrm>
          <a:prstGeom prst="roundRect">
            <a:avLst>
              <a:gd name="adj" fmla="val 1739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635240" y="1645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Churn</a:t>
            </a:r>
            <a:r>
              <a:rPr lang="en-US" sz="17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Oranı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" name="Chart 1"/>
          <p:cNvGraphicFramePr/>
          <p:nvPr>
            <p:extLst>
              <p:ext uri="{D42A27DB-BD31-4B8C-83A1-F6EECF244321}">
                <p14:modId xmlns:p14="http://schemas.microsoft.com/office/powerpoint/2010/main" val="1828083511"/>
              </p:ext>
            </p:extLst>
          </p:nvPr>
        </p:nvGraphicFramePr>
        <p:xfrm>
          <a:off x="7726680" y="2148840"/>
          <a:ext cx="35204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7635240" y="4800600"/>
            <a:ext cx="3611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 temas grubunda n=54 olduğu için %100 oran, örneklem büyüklüğüyle birlikte yorumlanmalıdır.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Aktifbank Case Study 1 · 6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MÜŞTERI DEĞERI: SEGMENT VE YAŞ DAĞILIMI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6656" y="804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Hedef aksiyonlar, portföy büyüklüğü ve finansal değeri birlikte okumalıdır.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60120" y="1600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Segment Dağılımı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" name="Chart 0"/>
          <p:cNvGraphicFramePr/>
          <p:nvPr>
            <p:extLst>
              <p:ext uri="{D42A27DB-BD31-4B8C-83A1-F6EECF244321}">
                <p14:modId xmlns:p14="http://schemas.microsoft.com/office/powerpoint/2010/main" val="4019281217"/>
              </p:ext>
            </p:extLst>
          </p:nvPr>
        </p:nvGraphicFramePr>
        <p:xfrm>
          <a:off x="960120" y="2011680"/>
          <a:ext cx="46634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6355080" y="132588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29400" y="160020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Yaş Grubu Dağılımı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Chart 1"/>
          <p:cNvGraphicFramePr/>
          <p:nvPr>
            <p:extLst>
              <p:ext uri="{D42A27DB-BD31-4B8C-83A1-F6EECF244321}">
                <p14:modId xmlns:p14="http://schemas.microsoft.com/office/powerpoint/2010/main" val="565885519"/>
              </p:ext>
            </p:extLst>
          </p:nvPr>
        </p:nvGraphicFramePr>
        <p:xfrm>
          <a:off x="6812280" y="1920240"/>
          <a:ext cx="420624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Aktifbank Case Study 1 · 7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TREND_ANALIZLERI SAYFASI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6656" y="804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Sparkline’lar büyük dashboard’u destekleyen hızlı mikro analizler olarak kullanıldı.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6675120" cy="5257800"/>
          </a:xfrm>
          <a:prstGeom prst="roundRect">
            <a:avLst>
              <a:gd name="adj" fmla="val 139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/mnt/data/case_assets/spark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46717"/>
            <a:ext cx="6217920" cy="403324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635240" y="1417320"/>
            <a:ext cx="3977640" cy="4800600"/>
          </a:xfrm>
          <a:prstGeom prst="roundRect">
            <a:avLst>
              <a:gd name="adj" fmla="val 1839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955280" y="1737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Öne Çıkanlar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7955280" y="2286000"/>
            <a:ext cx="315468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Kart seviyesi yükseldikçe limit ve harcama artıyor.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VIP segment ortalama harcamada açık ara önde.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İletişim sayısı churn için erken uyarı sinyali.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Pasiflik süresi kampanya tetikleyicisi olarak izlenebilir.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Aktifbank Case Study 1 · 8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WHAT-IF: KARAR DEĞIŞKENLERININ ETKISI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6656" y="804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 artışı, müşteri sayısı ve gelir oranı varsayımları finansal çıktılara bağlandı.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47548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/mnt/data/case_assets/scen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742" y="1645920"/>
            <a:ext cx="4328995" cy="2926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892040"/>
            <a:ext cx="4343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Scenario Manager çıktısı, kötümser/temel/iyimser senaryoları yan yana karşılaştırır.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5806440" y="1325880"/>
            <a:ext cx="56692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8076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Senaryo Karşılaştırması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1" name="Chart 0"/>
          <p:cNvGraphicFramePr/>
          <p:nvPr>
            <p:extLst>
              <p:ext uri="{D42A27DB-BD31-4B8C-83A1-F6EECF244321}">
                <p14:modId xmlns:p14="http://schemas.microsoft.com/office/powerpoint/2010/main" val="1276970945"/>
              </p:ext>
            </p:extLst>
          </p:nvPr>
        </p:nvGraphicFramePr>
        <p:xfrm>
          <a:off x="6217920" y="2011680"/>
          <a:ext cx="489204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 8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Aktifbank Case Study 1 · 9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DATA TABLE: DUYARLILIK ANALIZI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6656" y="804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 artışı ve müşteri büyümesi birlikte test edilerek işlem hacmi üzerindeki etki ölçüldü.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6720840" cy="5166360"/>
          </a:xfrm>
          <a:prstGeom prst="roundRect">
            <a:avLst>
              <a:gd name="adj" fmla="val 14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/mnt/data/case_assets/data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31579"/>
            <a:ext cx="6263640" cy="377208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325880"/>
            <a:ext cx="3886200" cy="4983480"/>
          </a:xfrm>
          <a:prstGeom prst="roundRect">
            <a:avLst>
              <a:gd name="adj" fmla="val 1882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046720" y="1645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Okuma Şekli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8046720" y="1773936"/>
            <a:ext cx="324612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just"/>
            <a:r>
              <a:rPr lang="tr-TR" sz="14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US" sz="1400" dirty="0" err="1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atırlar</a:t>
            </a:r>
            <a:r>
              <a:rPr lang="en-US" sz="14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limit </a:t>
            </a:r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artış</a:t>
            </a:r>
            <a:r>
              <a:rPr lang="en-US" sz="14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oranı (%0–%50)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Sütunlar: müşteri artış oranı (%0–%12)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Çıktı: tahmini yıllık işlem hacmi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Baz durum: ₺44,6 milyon işlem hacmi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4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%50 limit + %12 müşteri artışı: ≈ ₺74,9 milyon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8046720" y="3817619"/>
            <a:ext cx="3200400" cy="0"/>
          </a:xfrm>
          <a:prstGeom prst="line">
            <a:avLst/>
          </a:prstGeom>
          <a:noFill/>
          <a:ln w="19050">
            <a:solidFill>
              <a:srgbClr val="E8C9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46720" y="40187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Yorum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8077200" y="4480560"/>
            <a:ext cx="3246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just">
              <a:buNone/>
            </a:pPr>
            <a:r>
              <a:rPr lang="en-US" sz="14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agresif senaryo en yüksek hacmi verir; fakat kredi riski nedeniyle %15–%25 limit artışı ve %4–%8 müşteri artışı daha dengeli büyüme alanı olarak önerilir.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Aktifbank Case Study 1 · 10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SOLVER: KAMPANYA BÜTÇESI OPTIMIZASYONU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6656" y="804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100.000 TL bütçe altında beklenen ek işlem hacmi maksimize edildi.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5486400" cy="452628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7" name="Image 0" descr="/mnt/data/case_assets/sol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148593"/>
            <a:ext cx="5120640" cy="210361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49834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Sonuç: 1.000 VIP müşteri · ₺100.000 maliyet · ₺302.044 beklenen ek işlem hacmi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446520" y="1325880"/>
            <a:ext cx="5029200" cy="4526280"/>
          </a:xfrm>
          <a:prstGeom prst="roundRect">
            <a:avLst>
              <a:gd name="adj" fmla="val 1616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66560" y="1691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Neden VIP?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6766560" y="2148840"/>
            <a:ext cx="4069080" cy="1691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yüksek ortalama harcama segmenti.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Varsayımlar altında birim bütçe başına en yüksek ek işlem hacmi.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Churn düşürme ve ciro artırma etkisi birlikte yönetilebilir.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766560" y="45262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Not: Bu sonuç varsayımsal yanıt oranları ve kampanya maliyetlerine bağlıdır; pilot kampanya ile doğrulanmalıdır.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Aktifbank Case Study 1 · 11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STRATEJIK ÖNERILER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6656" y="804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Öneriler veri bulgusu, aksiyon ve takip KPI’ı ile birlikte tasarlandı.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22960" y="1325880"/>
            <a:ext cx="10424160" cy="621792"/>
          </a:xfrm>
          <a:prstGeom prst="roundRect">
            <a:avLst>
              <a:gd name="adj" fmla="val 11765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24128" y="1490472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54533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1645920" y="147218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3+ temas grubuna hızlı çözüm protokolü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040880" y="147218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Temas sonrası churn, çözüm süresi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22960" y="2148840"/>
            <a:ext cx="104241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024128" y="2313432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236829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1645920" y="229514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Altında segment için aylık erken uyarı listesi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040880" y="22951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churn, aktif müşteri oranı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2960" y="2971800"/>
            <a:ext cx="10424160" cy="621792"/>
          </a:xfrm>
          <a:prstGeom prst="roundRect">
            <a:avLst>
              <a:gd name="adj" fmla="val 11765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024128" y="3136392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24128" y="319125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645920" y="311810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VIP elde tutma kampanyasını ayrı yönetin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040880" y="311810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VIP churn, kampanya ROI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22960" y="3794760"/>
            <a:ext cx="1042416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24128" y="3959352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4128" y="401421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645920" y="394106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Pasif müşterilere düşük maliyetli aktivasyon teklifi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040880" y="394106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İlk işlem dönüşümü, aktifleşme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22960" y="4617720"/>
            <a:ext cx="10424160" cy="621792"/>
          </a:xfrm>
          <a:prstGeom prst="roundRect">
            <a:avLst>
              <a:gd name="adj" fmla="val 11765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24128" y="4782312"/>
            <a:ext cx="411480" cy="292608"/>
          </a:xfrm>
          <a:prstGeom prst="roundRect">
            <a:avLst>
              <a:gd name="adj" fmla="val 18750"/>
            </a:avLst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" y="4837176"/>
            <a:ext cx="4114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645920" y="4764024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283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 artışını orta senaryolarda yönetin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040880" y="476402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Risk ve işlem hacmi dengesi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914400" y="5806440"/>
            <a:ext cx="10241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Öncelik: önce temas kaynaklı memnuniyetsizlik sinyali, ardından segment bazlı kampanya verimliliği yönetilmelidir.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Aktifbank Case Study 1 · 12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  <p:txBody>
          <a:bodyPr/>
          <a:lstStyle/>
          <a:p>
            <a:endParaRPr lang="tr-TR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STRATEJIK ÖNERILER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6656" y="804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Öneriler veri bulgusu, aksiyon ve takip KPI’ı ile birlikte tasarlandı.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79038" y="1522476"/>
            <a:ext cx="3799573" cy="4187952"/>
          </a:xfrm>
          <a:prstGeom prst="roundRect">
            <a:avLst>
              <a:gd name="adj" fmla="val 11765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1600" b="1" dirty="0">
                <a:latin typeface="Arial" panose="020B0604020202020204" pitchFamily="34" charset="0"/>
                <a:cs typeface="Arial" panose="020B0604020202020204" pitchFamily="34" charset="0"/>
              </a:rPr>
              <a:t>💎 VIP Müşteri Stratejisi</a:t>
            </a:r>
          </a:p>
          <a:p>
            <a:endParaRPr lang="tr-T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✔ Ortalama harcaması en yüksek segment (≈ ₺10.068)</a:t>
            </a:r>
          </a:p>
          <a:p>
            <a:endParaRPr 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✔ </a:t>
            </a:r>
            <a:r>
              <a:rPr lang="tr-TR" sz="1600" dirty="0" err="1">
                <a:latin typeface="Arial" panose="020B0604020202020204" pitchFamily="34" charset="0"/>
                <a:cs typeface="Arial" panose="020B0604020202020204" pitchFamily="34" charset="0"/>
              </a:rPr>
              <a:t>Solver</a:t>
            </a:r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analizinde en yüksek yatırım getirisi</a:t>
            </a:r>
          </a:p>
          <a:p>
            <a:endParaRPr 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✔ Premium kampanyalar ve sadakat programları uygulanmalı</a:t>
            </a:r>
          </a:p>
          <a:p>
            <a:endParaRPr 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Aktifbank Case Study 1 · </a:t>
            </a:r>
            <a:r>
              <a:rPr lang="tr-TR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13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B7C1CE8B-B6FD-7BB1-79D2-EE08369E1CE7}"/>
              </a:ext>
            </a:extLst>
          </p:cNvPr>
          <p:cNvSpPr/>
          <p:nvPr/>
        </p:nvSpPr>
        <p:spPr>
          <a:xfrm>
            <a:off x="4356081" y="1522476"/>
            <a:ext cx="3799573" cy="4187952"/>
          </a:xfrm>
          <a:prstGeom prst="roundRect">
            <a:avLst>
              <a:gd name="adj" fmla="val 11765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1600" b="1" dirty="0">
                <a:latin typeface="Arial" panose="020B0604020202020204" pitchFamily="34" charset="0"/>
                <a:cs typeface="Arial" panose="020B0604020202020204" pitchFamily="34" charset="0"/>
              </a:rPr>
              <a:t>💳 Çapraz Satış Fırsatları</a:t>
            </a:r>
          </a:p>
          <a:p>
            <a:endParaRPr lang="tr-T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✔ Blue kart kullanıcıları üst segment kartlara yönlendirilebilir</a:t>
            </a:r>
          </a:p>
          <a:p>
            <a:endParaRPr 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✔ Düzenli ödeme yapan müşterilere limit artırımı sunulabilir</a:t>
            </a:r>
          </a:p>
          <a:p>
            <a:endParaRPr 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✔ Ek bankacılık ürünleri ile müşteri başına gelir artırılabilir</a:t>
            </a:r>
          </a:p>
          <a:p>
            <a:endParaRPr 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Shape 4">
            <a:extLst>
              <a:ext uri="{FF2B5EF4-FFF2-40B4-BE49-F238E27FC236}">
                <a16:creationId xmlns:a16="http://schemas.microsoft.com/office/drawing/2014/main" id="{343C76F0-7849-C7E1-F2EB-6407D541457D}"/>
              </a:ext>
            </a:extLst>
          </p:cNvPr>
          <p:cNvSpPr/>
          <p:nvPr/>
        </p:nvSpPr>
        <p:spPr>
          <a:xfrm>
            <a:off x="8235152" y="1522476"/>
            <a:ext cx="3799573" cy="4187952"/>
          </a:xfrm>
          <a:prstGeom prst="roundRect">
            <a:avLst>
              <a:gd name="adj" fmla="val 11765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tr-T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tr-T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1600" b="1" dirty="0">
                <a:latin typeface="Arial" panose="020B0604020202020204" pitchFamily="34" charset="0"/>
                <a:cs typeface="Arial" panose="020B0604020202020204" pitchFamily="34" charset="0"/>
              </a:rPr>
              <a:t>⚠ Risk Yönetimi</a:t>
            </a:r>
          </a:p>
          <a:p>
            <a:endParaRPr lang="tr-TR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✔ Risk Altında segment öncelikli takip edilmelidir</a:t>
            </a:r>
          </a:p>
          <a:p>
            <a:endParaRPr 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✔ Gelirine göre yüksek harcama yapan müşteriler izlenmelidir</a:t>
            </a:r>
          </a:p>
          <a:p>
            <a:endParaRPr 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✔ Erken uyarı sistemi ve proaktif müşteri yönetimi uygulanmalıdır</a:t>
            </a:r>
          </a:p>
          <a:p>
            <a:endParaRPr 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3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2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F8"/>
          </a:solidFill>
          <a:ln w="12700">
            <a:solidFill>
              <a:srgbClr val="F7F2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B145B"/>
          </a:solidFill>
          <a:ln w="12700">
            <a:solidFill>
              <a:srgbClr val="4B14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29260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ea typeface="Aptos Display" pitchFamily="34" charset="-122"/>
                <a:cs typeface="Arial" panose="020B0604020202020204" pitchFamily="34" charset="0"/>
              </a:rPr>
              <a:t>SONUÇ VE TESLIM ÖZETI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76656" y="804672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Excel çalışma kitabı, rapor ve sunum birlikte teslim edilebilir yapıdadır.</a:t>
            </a:r>
            <a:endParaRPr lang="en-US" sz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853440" y="1321541"/>
            <a:ext cx="521208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tr-TR" alt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endParaRPr lang="tr-TR" alt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tr-TR" alt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Veri Temizleme ve Veri Hazırlama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tr-TR" altLang="tr-TR" sz="1600" dirty="0" err="1">
                <a:latin typeface="Arial" panose="020B0604020202020204" pitchFamily="34" charset="0"/>
                <a:cs typeface="Arial" panose="020B0604020202020204" pitchFamily="34" charset="0"/>
              </a:rPr>
              <a:t>PivotTable</a:t>
            </a: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ve </a:t>
            </a:r>
            <a:r>
              <a:rPr lang="tr-TR" altLang="tr-TR" sz="1600" dirty="0" err="1">
                <a:latin typeface="Arial" panose="020B0604020202020204" pitchFamily="34" charset="0"/>
                <a:cs typeface="Arial" panose="020B0604020202020204" pitchFamily="34" charset="0"/>
              </a:rPr>
              <a:t>PivotChart</a:t>
            </a: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Analizleri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tr-TR" altLang="tr-TR" sz="1600" dirty="0" err="1">
                <a:latin typeface="Arial" panose="020B0604020202020204" pitchFamily="34" charset="0"/>
                <a:cs typeface="Arial" panose="020B0604020202020204" pitchFamily="34" charset="0"/>
              </a:rPr>
              <a:t>Power</a:t>
            </a: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BI benzeri Dashboard Tasarımı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tr-TR" altLang="tr-TR" sz="1600" dirty="0" err="1">
                <a:latin typeface="Arial" panose="020B0604020202020204" pitchFamily="34" charset="0"/>
                <a:cs typeface="Arial" panose="020B0604020202020204" pitchFamily="34" charset="0"/>
              </a:rPr>
              <a:t>Slicer</a:t>
            </a: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ile Dinamik Filtreleme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tr-TR" altLang="tr-TR" sz="1600" dirty="0" err="1">
                <a:latin typeface="Arial" panose="020B0604020202020204" pitchFamily="34" charset="0"/>
                <a:cs typeface="Arial" panose="020B0604020202020204" pitchFamily="34" charset="0"/>
              </a:rPr>
              <a:t>Sparkline</a:t>
            </a: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Trend Analizleri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tr-TR" altLang="tr-TR" sz="1600" dirty="0" err="1">
                <a:latin typeface="Arial" panose="020B0604020202020204" pitchFamily="34" charset="0"/>
                <a:cs typeface="Arial" panose="020B0604020202020204" pitchFamily="34" charset="0"/>
              </a:rPr>
              <a:t>Scenario</a:t>
            </a: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Manager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tr-TR" altLang="tr-TR" sz="1600" dirty="0" err="1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tr-TR" altLang="tr-TR" sz="1600" dirty="0" err="1">
                <a:latin typeface="Arial" panose="020B0604020202020204" pitchFamily="34" charset="0"/>
                <a:cs typeface="Arial" panose="020B0604020202020204" pitchFamily="34" charset="0"/>
              </a:rPr>
              <a:t>Seek</a:t>
            </a: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Two </a:t>
            </a:r>
            <a:r>
              <a:rPr lang="tr-TR" altLang="tr-TR" sz="1600" dirty="0" err="1">
                <a:latin typeface="Arial" panose="020B0604020202020204" pitchFamily="34" charset="0"/>
                <a:cs typeface="Arial" panose="020B0604020202020204" pitchFamily="34" charset="0"/>
              </a:rPr>
              <a:t>Variable</a:t>
            </a: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Data </a:t>
            </a:r>
            <a:r>
              <a:rPr lang="tr-TR" altLang="tr-TR" sz="1600" dirty="0" err="1">
                <a:latin typeface="Arial" panose="020B0604020202020204" pitchFamily="34" charset="0"/>
                <a:cs typeface="Arial" panose="020B0604020202020204" pitchFamily="34" charset="0"/>
              </a:rPr>
              <a:t>Table</a:t>
            </a: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tr-TR" altLang="tr-TR" sz="1600" dirty="0" err="1">
                <a:latin typeface="Arial" panose="020B0604020202020204" pitchFamily="34" charset="0"/>
                <a:cs typeface="Arial" panose="020B0604020202020204" pitchFamily="34" charset="0"/>
              </a:rPr>
              <a:t>Solver</a:t>
            </a: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 Optimizasyonu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tr-TR" altLang="tr-TR" sz="1600" dirty="0">
                <a:latin typeface="Arial" panose="020B0604020202020204" pitchFamily="34" charset="0"/>
                <a:cs typeface="Arial" panose="020B0604020202020204" pitchFamily="34" charset="0"/>
              </a:rPr>
              <a:t>VBA ile Otomatik PDF ve HTML Raporlama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64920" y="16459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Çalışmada</a:t>
            </a: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Gerçekleştirilen</a:t>
            </a: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Analizler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43000" y="2148840"/>
            <a:ext cx="4251960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0" y="1325880"/>
            <a:ext cx="4937760" cy="4389120"/>
          </a:xfrm>
          <a:prstGeom prst="roundRect">
            <a:avLst>
              <a:gd name="adj" fmla="val 1667"/>
            </a:avLst>
          </a:prstGeom>
          <a:solidFill>
            <a:srgbClr val="F3E4F4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1645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Genel</a:t>
            </a: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 err="1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Değerlendirme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720840" y="2240280"/>
            <a:ext cx="4160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endParaRPr 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tr-TR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tr-TR" sz="1600" dirty="0">
                <a:latin typeface="Arial" panose="020B0604020202020204" pitchFamily="34" charset="0"/>
                <a:cs typeface="Arial" panose="020B0604020202020204" pitchFamily="34" charset="0"/>
              </a:rPr>
              <a:t>Bu çalışma, kredi kartı müşterilerinin davranışlarını analiz ederek müşteri kaybını azaltmaya, gelir potansiyelini artırmaya ve yöneticilere veri odaklı karar desteği sağlamaya yönelik bütünleşik bir Excel tabanlı karar destek sistemi ortaya koymuştur.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720840" y="4297680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4B145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Bir sonraki adım: dashboard’un aylık güncelleme ve aksiyon takip sürecine bağlanması.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9875520" y="644652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Aktifbank Case Study 1 · </a:t>
            </a:r>
            <a:r>
              <a:rPr lang="tr-TR" sz="1100" dirty="0">
                <a:solidFill>
                  <a:srgbClr val="6B647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14</a:t>
            </a:r>
            <a:endParaRPr 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64E18154-0077-E4AC-2FBB-A6BC3FF8A505}"/>
              </a:ext>
            </a:extLst>
          </p:cNvPr>
          <p:cNvSpPr/>
          <p:nvPr/>
        </p:nvSpPr>
        <p:spPr>
          <a:xfrm>
            <a:off x="658368" y="6355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tr-TR" sz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Hatice Gül UZUN</a:t>
            </a:r>
            <a:endParaRPr lang="en-US" sz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1019</Words>
  <Application>Microsoft Office PowerPoint</Application>
  <PresentationFormat>Geniş ekran</PresentationFormat>
  <Paragraphs>206</Paragraphs>
  <Slides>14</Slides>
  <Notes>14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14</vt:i4>
      </vt:variant>
    </vt:vector>
  </HeadingPairs>
  <TitlesOfParts>
    <vt:vector size="18" baseType="lpstr">
      <vt:lpstr>Aptos Display</vt:lpstr>
      <vt:lpstr>Arial</vt:lpstr>
      <vt:lpstr>Wingdings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Kredi Kartı Müşteri Analizi</dc:title>
  <dc:subject>Aktifbank Case Study 1</dc:subject>
  <dc:creator>OpenAI</dc:creator>
  <cp:lastModifiedBy>HATİCE GÜL UZUN</cp:lastModifiedBy>
  <cp:revision>8</cp:revision>
  <dcterms:created xsi:type="dcterms:W3CDTF">2026-07-13T15:22:03Z</dcterms:created>
  <dcterms:modified xsi:type="dcterms:W3CDTF">2026-07-13T21:03:36Z</dcterms:modified>
</cp:coreProperties>
</file>